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20B0806030504020204"/>
      <p:regular r:id="rId12"/>
    </p:embeddedFont>
    <p:embeddedFont>
      <p:font typeface="Open Sans" charset="1" panose="020B0606030504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697" y="793573"/>
            <a:ext cx="16458607" cy="8699854"/>
            <a:chOff x="0" y="0"/>
            <a:chExt cx="8277467" cy="437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77467" cy="4375386"/>
            </a:xfrm>
            <a:custGeom>
              <a:avLst/>
              <a:gdLst/>
              <a:ahLst/>
              <a:cxnLst/>
              <a:rect r="r" b="b" t="t" l="l"/>
              <a:pathLst>
                <a:path h="4375386" w="8277467">
                  <a:moveTo>
                    <a:pt x="0" y="0"/>
                  </a:moveTo>
                  <a:lnTo>
                    <a:pt x="0" y="4375386"/>
                  </a:lnTo>
                  <a:lnTo>
                    <a:pt x="8277467" y="4375386"/>
                  </a:lnTo>
                  <a:lnTo>
                    <a:pt x="8277467" y="0"/>
                  </a:lnTo>
                  <a:lnTo>
                    <a:pt x="0" y="0"/>
                  </a:lnTo>
                  <a:close/>
                  <a:moveTo>
                    <a:pt x="8216507" y="4314426"/>
                  </a:moveTo>
                  <a:lnTo>
                    <a:pt x="59690" y="4314426"/>
                  </a:lnTo>
                  <a:lnTo>
                    <a:pt x="59690" y="59690"/>
                  </a:lnTo>
                  <a:lnTo>
                    <a:pt x="8216507" y="59690"/>
                  </a:lnTo>
                  <a:lnTo>
                    <a:pt x="8216507" y="4314426"/>
                  </a:lnTo>
                  <a:close/>
                </a:path>
              </a:pathLst>
            </a:custGeom>
            <a:solidFill>
              <a:srgbClr val="D8F1FE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3859684" y="-391894"/>
            <a:ext cx="10411065" cy="11070787"/>
          </a:xfrm>
          <a:prstGeom prst="rect">
            <a:avLst/>
          </a:prstGeom>
          <a:solidFill>
            <a:srgbClr val="1F1F1F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5238576" y="1733501"/>
            <a:ext cx="7810847" cy="6819998"/>
            <a:chOff x="0" y="0"/>
            <a:chExt cx="10414463" cy="909333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2875"/>
              <a:ext cx="10414463" cy="6899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013"/>
                </a:lnSpc>
              </a:pPr>
              <a:r>
                <a:rPr lang="en-US" b="true" sz="962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Automatic Medical Report Generation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479160"/>
              <a:ext cx="10414463" cy="1614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Biamonte Salvatore 264177</a:t>
              </a:r>
            </a:p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Di Franco Federico 263678</a:t>
              </a:r>
            </a:p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Visciglia Domenico 263631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5350" y="6100245"/>
            <a:ext cx="8689975" cy="4186755"/>
            <a:chOff x="0" y="0"/>
            <a:chExt cx="11586633" cy="5582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9600" cy="5582340"/>
            </a:xfrm>
            <a:custGeom>
              <a:avLst/>
              <a:gdLst/>
              <a:ahLst/>
              <a:cxnLst/>
              <a:rect r="r" b="b" t="t" l="l"/>
              <a:pathLst>
                <a:path h="558234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5582340"/>
                  </a:lnTo>
                  <a:lnTo>
                    <a:pt x="0" y="5582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559" t="0" r="-121039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897033" y="0"/>
              <a:ext cx="5689600" cy="5582340"/>
            </a:xfrm>
            <a:custGeom>
              <a:avLst/>
              <a:gdLst/>
              <a:ahLst/>
              <a:cxnLst/>
              <a:rect r="r" b="b" t="t" l="l"/>
              <a:pathLst>
                <a:path h="558234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5582340"/>
                  </a:lnTo>
                  <a:lnTo>
                    <a:pt x="0" y="5582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1559" t="0" r="-12103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83618" y="69507"/>
            <a:ext cx="6493438" cy="5235432"/>
            <a:chOff x="0" y="0"/>
            <a:chExt cx="1101660" cy="888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1660" cy="888230"/>
            </a:xfrm>
            <a:custGeom>
              <a:avLst/>
              <a:gdLst/>
              <a:ahLst/>
              <a:cxnLst/>
              <a:rect r="r" b="b" t="t" l="l"/>
              <a:pathLst>
                <a:path h="888230" w="1101660">
                  <a:moveTo>
                    <a:pt x="0" y="0"/>
                  </a:moveTo>
                  <a:lnTo>
                    <a:pt x="1101660" y="0"/>
                  </a:lnTo>
                  <a:lnTo>
                    <a:pt x="1101660" y="888230"/>
                  </a:lnTo>
                  <a:lnTo>
                    <a:pt x="0" y="88823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83618" y="5436199"/>
            <a:ext cx="6493438" cy="4790829"/>
            <a:chOff x="0" y="0"/>
            <a:chExt cx="110166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1660" cy="812800"/>
            </a:xfrm>
            <a:custGeom>
              <a:avLst/>
              <a:gdLst/>
              <a:ahLst/>
              <a:cxnLst/>
              <a:rect r="r" b="b" t="t" l="l"/>
              <a:pathLst>
                <a:path h="812800" w="1101660">
                  <a:moveTo>
                    <a:pt x="0" y="0"/>
                  </a:moveTo>
                  <a:lnTo>
                    <a:pt x="1101660" y="0"/>
                  </a:lnTo>
                  <a:lnTo>
                    <a:pt x="110166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2157" t="0" r="-215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9038025" cy="10287000"/>
            <a:chOff x="0" y="0"/>
            <a:chExt cx="2380385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803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80385">
                  <a:moveTo>
                    <a:pt x="0" y="0"/>
                  </a:moveTo>
                  <a:lnTo>
                    <a:pt x="2380385" y="0"/>
                  </a:lnTo>
                  <a:lnTo>
                    <a:pt x="23803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F1F1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803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9233" y="436174"/>
            <a:ext cx="8828792" cy="9414652"/>
            <a:chOff x="0" y="0"/>
            <a:chExt cx="11771723" cy="1255286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11771723" cy="3832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95"/>
                </a:lnSpc>
              </a:pPr>
              <a:r>
                <a:rPr lang="en-US" b="true" sz="6329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Analysis and Structuring of the Chest X-Ray Dataset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306268"/>
              <a:ext cx="11771723" cy="8246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51"/>
                </a:lnSpc>
              </a:pP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dataset analyzed contains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3851 rows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, with frontal and lateral chest X-rays and associated medical analyses. After cleaning and removing</a:t>
              </a: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520 malformed rows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, the final dataset includes: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Selected columns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</a:p>
            <a:p>
              <a:pPr algn="l" marL="780919" indent="-260306" lvl="2">
                <a:lnSpc>
                  <a:spcPts val="2351"/>
                </a:lnSpc>
                <a:buFont typeface="Arial"/>
                <a:buChar char="⚬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Problems: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Medical issues (121 unique labels).</a:t>
              </a:r>
            </a:p>
            <a:p>
              <a:pPr algn="l" marL="780919" indent="-260306" lvl="2">
                <a:lnSpc>
                  <a:spcPts val="2351"/>
                </a:lnSpc>
                <a:buFont typeface="Arial"/>
                <a:buChar char="⚬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Findings: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Radiologist's analysis.</a:t>
              </a:r>
            </a:p>
            <a:p>
              <a:pPr algn="l" marL="780919" indent="-260306" lvl="2">
                <a:lnSpc>
                  <a:spcPts val="2351"/>
                </a:lnSpc>
                <a:buFont typeface="Arial"/>
                <a:buChar char="⚬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Images: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ssociate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d chest X-rays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  <a:p>
              <a:pPr algn="l" marL="0" indent="0" lvl="0">
                <a:lnSpc>
                  <a:spcPts val="2351"/>
                </a:lnSpc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Distribution: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Significant imbalance: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"normal" domina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tes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(1379 occ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rren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c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), intermedi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ate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issues lik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 "Lung" (553)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and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"Opacity" (509), a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nd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rar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cas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(e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g.,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"Hemothorax"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with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1 occ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rren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ce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</a:p>
            <a:p>
              <a:pPr algn="l" marL="0" indent="0" lvl="0">
                <a:lnSpc>
                  <a:spcPts val="2351"/>
                </a:lnSpc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Challenges: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Im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lanc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ed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nd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incomplet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 data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(13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5%).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Ambiguit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n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lab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el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(e.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g.,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Anatom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vs. Pat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h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olog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</a:p>
            <a:p>
              <a:pPr algn="l" marL="0" indent="0" lvl="0">
                <a:lnSpc>
                  <a:spcPts val="2351"/>
                </a:lnSpc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Final strategies: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Cleaning: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Elimination of problems with </a:t>
              </a: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few occurrences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(20) and removal of rows </a:t>
              </a: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without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all the data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Binary classification: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Sick vs. Not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Sick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  <a:p>
              <a:pPr algn="l" marL="390459" indent="-195230" lvl="1">
                <a:lnSpc>
                  <a:spcPts val="2351"/>
                </a:lnSpc>
                <a:buFont typeface="Arial"/>
                <a:buChar char="•"/>
              </a:pPr>
              <a:r>
                <a:rPr lang="en-US" b="true" sz="1808">
                  <a:solidFill>
                    <a:srgbClr val="F1F6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Multi-class classification: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Grou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pe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d by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stem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(P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lmonar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, Cardiovasc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lar, Musc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los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k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elet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al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, N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o</a:t>
              </a:r>
              <a:r>
                <a:rPr lang="en-US" sz="1808">
                  <a:solidFill>
                    <a:srgbClr val="F1F6F9"/>
                  </a:solidFill>
                  <a:latin typeface="Open Sans"/>
                  <a:ea typeface="Open Sans"/>
                  <a:cs typeface="Open Sans"/>
                  <a:sym typeface="Open Sans"/>
                </a:rPr>
                <a:t> Problem).</a:t>
              </a:r>
            </a:p>
            <a:p>
              <a:pPr algn="l" marL="0" indent="0" lvl="0">
                <a:lnSpc>
                  <a:spcPts val="2351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209233" y="3524975"/>
            <a:ext cx="8080982" cy="0"/>
          </a:xfrm>
          <a:prstGeom prst="line">
            <a:avLst/>
          </a:prstGeom>
          <a:ln cap="flat" w="28575">
            <a:solidFill>
              <a:srgbClr val="4B4B4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87243" y="1790700"/>
            <a:ext cx="10410249" cy="80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2"/>
              </a:lnSpc>
            </a:pPr>
            <a:r>
              <a:rPr lang="en-US" sz="176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Using the chest X-ray images, we aim to perform two types of classification through separate </a:t>
            </a:r>
            <a:r>
              <a:rPr lang="en-US" b="true" sz="176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image to text</a:t>
            </a:r>
            <a:r>
              <a:rPr lang="en-US" sz="176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models: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381853" indent="-190927" lvl="1">
              <a:lnSpc>
                <a:spcPts val="2122"/>
              </a:lnSpc>
              <a:buAutoNum type="arabicPeriod" startAt="1"/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Classification:</a:t>
            </a: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Predict whether the patient is Sick or Not Sick.</a:t>
            </a:r>
          </a:p>
          <a:p>
            <a:pPr algn="l" marL="763706" indent="-254569" lvl="2">
              <a:lnSpc>
                <a:spcPts val="2122"/>
              </a:lnSpc>
              <a:buFont typeface="Arial"/>
              <a:buChar char="⚬"/>
            </a:pP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a Standard Binary: Instead of a single-neuron + sigmoid, we use a two-class softmax within a multi-class framework. This ensures a consistent parametric design and streamlines switching between binary and multi-class tasks without performance loss.</a:t>
            </a:r>
          </a:p>
          <a:p>
            <a:pPr algn="l" marL="381853" indent="-190927" lvl="1">
              <a:lnSpc>
                <a:spcPts val="2122"/>
              </a:lnSpc>
              <a:buAutoNum type="arabicPeriod" startAt="1"/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Classification:</a:t>
            </a: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Categorize issues into four regions (Pulmonary, Cardiovascular, Musculoskeletal, or No Problem).</a:t>
            </a:r>
          </a:p>
          <a:p>
            <a:pPr algn="l" marL="763706" indent="-254569" lvl="2">
              <a:lnSpc>
                <a:spcPts val="2122"/>
              </a:lnSpc>
              <a:buFont typeface="Arial"/>
              <a:buChar char="⚬"/>
            </a:pP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Different learning rate strategies by grouping the model components based on their roles.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0" indent="0" lvl="0">
              <a:lnSpc>
                <a:spcPts val="2122"/>
              </a:lnSpc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Caption Generation:</a:t>
            </a:r>
          </a:p>
          <a:p>
            <a:pPr algn="l" marL="0" indent="0" lvl="0">
              <a:lnSpc>
                <a:spcPts val="2122"/>
              </a:lnSpc>
            </a:pP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Both models generate captions describing the findings. For the multi-class model, we also implemented a version with a </a:t>
            </a: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 Transformer</a:t>
            </a: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 replace GPT-2 for compare and test the quality of the texts generated by GPT-2.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0" indent="0" lvl="0">
              <a:lnSpc>
                <a:spcPts val="2122"/>
              </a:lnSpc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Design Advantages: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381853" indent="-190927" lvl="1">
              <a:lnSpc>
                <a:spcPts val="2122"/>
              </a:lnSpc>
              <a:buFont typeface="Arial"/>
              <a:buChar char="•"/>
            </a:pP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Seamless binary/multi-class switching via final-layer reconfiguration, preserving shared architectures (ResNet, GPT-2, Transformer).</a:t>
            </a:r>
          </a:p>
          <a:p>
            <a:pPr algn="l" marL="381853" indent="-190927" lvl="1">
              <a:lnSpc>
                <a:spcPts val="2122"/>
              </a:lnSpc>
              <a:buFont typeface="Arial"/>
              <a:buChar char="•"/>
            </a:pP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Flexible label mapping for multi-class anatomical systems.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0" indent="0" lvl="0">
              <a:lnSpc>
                <a:spcPts val="2122"/>
              </a:lnSpc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 Loss Functions: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381853" indent="-190927" lvl="1">
              <a:lnSpc>
                <a:spcPts val="2122"/>
              </a:lnSpc>
              <a:buFont typeface="Arial"/>
              <a:buChar char="•"/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Modified Focal Loss:</a:t>
            </a: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Addresses class imbalance with tuned hyperparameters (α, γ) to mitigate dominance of majority classes.</a:t>
            </a:r>
          </a:p>
          <a:p>
            <a:pPr algn="l" marL="381853" indent="-190927" lvl="1">
              <a:lnSpc>
                <a:spcPts val="2122"/>
              </a:lnSpc>
              <a:buFont typeface="Arial"/>
              <a:buChar char="•"/>
            </a:pPr>
            <a:r>
              <a:rPr lang="en-US" b="true" sz="176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Medical Caption Loss:</a:t>
            </a: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Assigns higher penalties to errors in critical medical and anatomical terms using regex-based weighting for key tokens.</a:t>
            </a:r>
          </a:p>
          <a:p>
            <a:pPr algn="l" marL="0" indent="0" lvl="0">
              <a:lnSpc>
                <a:spcPts val="2122"/>
              </a:lnSpc>
            </a:pPr>
          </a:p>
          <a:p>
            <a:pPr algn="l" marL="0" indent="0" lvl="0">
              <a:lnSpc>
                <a:spcPts val="2122"/>
              </a:lnSpc>
            </a:pPr>
            <a:r>
              <a:rPr lang="en-US" sz="176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versatile approach ensures robust classification and precise, medically relevant captions.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7507288" y="0"/>
            <a:ext cx="0" cy="10287000"/>
          </a:xfrm>
          <a:prstGeom prst="line">
            <a:avLst/>
          </a:prstGeom>
          <a:ln cap="flat" w="47625">
            <a:solidFill>
              <a:srgbClr val="4B4B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31" y="1538342"/>
            <a:ext cx="18288000" cy="23813"/>
          </a:xfrm>
          <a:prstGeom prst="line">
            <a:avLst/>
          </a:prstGeom>
          <a:ln cap="flat" w="47625">
            <a:solidFill>
              <a:srgbClr val="4B4B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1585967"/>
            <a:ext cx="7507288" cy="8701033"/>
            <a:chOff x="0" y="0"/>
            <a:chExt cx="1977228" cy="2291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228" cy="2291630"/>
            </a:xfrm>
            <a:custGeom>
              <a:avLst/>
              <a:gdLst/>
              <a:ahLst/>
              <a:cxnLst/>
              <a:rect r="r" b="b" t="t" l="l"/>
              <a:pathLst>
                <a:path h="2291630" w="1977228">
                  <a:moveTo>
                    <a:pt x="0" y="0"/>
                  </a:moveTo>
                  <a:lnTo>
                    <a:pt x="1977228" y="0"/>
                  </a:lnTo>
                  <a:lnTo>
                    <a:pt x="1977228" y="2291630"/>
                  </a:lnTo>
                  <a:lnTo>
                    <a:pt x="0" y="2291630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77228" cy="2329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07288" y="0"/>
            <a:ext cx="10780712" cy="1585967"/>
            <a:chOff x="0" y="0"/>
            <a:chExt cx="2839365" cy="417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9365" cy="417703"/>
            </a:xfrm>
            <a:custGeom>
              <a:avLst/>
              <a:gdLst/>
              <a:ahLst/>
              <a:cxnLst/>
              <a:rect r="r" b="b" t="t" l="l"/>
              <a:pathLst>
                <a:path h="417703" w="2839365">
                  <a:moveTo>
                    <a:pt x="0" y="0"/>
                  </a:moveTo>
                  <a:lnTo>
                    <a:pt x="2839365" y="0"/>
                  </a:lnTo>
                  <a:lnTo>
                    <a:pt x="2839365" y="417703"/>
                  </a:lnTo>
                  <a:lnTo>
                    <a:pt x="0" y="417703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39365" cy="455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4613" y="3738084"/>
            <a:ext cx="7243167" cy="299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34"/>
              </a:lnSpc>
              <a:spcBef>
                <a:spcPct val="0"/>
              </a:spcBef>
            </a:pPr>
            <a:r>
              <a:rPr lang="en-US" b="true" sz="7973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 and Particularities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32736" y="111001"/>
            <a:ext cx="10655264" cy="957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302" indent="-212651" lvl="1">
              <a:lnSpc>
                <a:spcPts val="3151"/>
              </a:lnSpc>
              <a:buAutoNum type="arabicPeriod" startAt="1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Splits:</a:t>
            </a:r>
          </a:p>
          <a:p>
            <a:pPr algn="l" marL="850605" indent="-283535" lvl="2">
              <a:lnSpc>
                <a:spcPts val="3151"/>
              </a:lnSpc>
              <a:buFont typeface="Arial"/>
              <a:buChar char="⚬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Train/Test Split: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80% of the dataset for training, 20% for testing.</a:t>
            </a:r>
          </a:p>
          <a:p>
            <a:pPr algn="l" marL="850605" indent="-283535" lvl="2">
              <a:lnSpc>
                <a:spcPts val="3151"/>
              </a:lnSpc>
              <a:buFont typeface="Arial"/>
              <a:buChar char="⚬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Internal Split: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The training portion is divided into 70% for actual training and 30% for validation.</a:t>
            </a:r>
          </a:p>
          <a:p>
            <a:pPr algn="l" marL="850605" indent="-283535" lvl="2">
              <a:lnSpc>
                <a:spcPts val="3151"/>
              </a:lnSpc>
              <a:buFont typeface="Arial"/>
              <a:buChar char="⚬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Final distribution: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56% Train, 24% Validation, 20% Test.</a:t>
            </a:r>
          </a:p>
          <a:p>
            <a:pPr algn="l" marL="425302" indent="-212651" lvl="1">
              <a:lnSpc>
                <a:spcPts val="3151"/>
              </a:lnSpc>
              <a:buAutoNum type="arabicPeriod" startAt="1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Optimization of Metrics:</a:t>
            </a:r>
          </a:p>
          <a:p>
            <a:pPr algn="l" marL="850605" indent="-425302" lvl="1">
              <a:lnSpc>
                <a:spcPts val="3151"/>
              </a:lnSpc>
              <a:buFont typeface="Arial"/>
              <a:buChar char="•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Various values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for learning rate, epochs, and other hyperparameters were </a:t>
            </a: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tested to reach the final configuration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like the number of epochs:</a:t>
            </a:r>
          </a:p>
          <a:p>
            <a:pPr algn="l" marL="1275907" indent="-318977" lvl="3">
              <a:lnSpc>
                <a:spcPts val="3151"/>
              </a:lnSpc>
              <a:buFont typeface="Arial"/>
              <a:buChar char="￭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Model: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8 epochs.</a:t>
            </a:r>
          </a:p>
          <a:p>
            <a:pPr algn="l" marL="1275907" indent="-318977" lvl="3">
              <a:lnSpc>
                <a:spcPts val="3151"/>
              </a:lnSpc>
              <a:buFont typeface="Arial"/>
              <a:buChar char="￭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GPT-2: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15 epochs.</a:t>
            </a:r>
          </a:p>
          <a:p>
            <a:pPr algn="l" marL="1275907" indent="-318977" lvl="3">
              <a:lnSpc>
                <a:spcPts val="3151"/>
              </a:lnSpc>
              <a:buFont typeface="Arial"/>
              <a:buChar char="￭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Transformer: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15 epochs.</a:t>
            </a:r>
          </a:p>
          <a:p>
            <a:pPr algn="just" marL="425302" indent="-212651" lvl="1">
              <a:lnSpc>
                <a:spcPts val="3151"/>
              </a:lnSpc>
              <a:buAutoNum type="arabicPeriod" startAt="1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Early Ideas to Final Solutions:</a:t>
            </a:r>
          </a:p>
          <a:p>
            <a:pPr algn="l" marL="850605" indent="-425302" lvl="1">
              <a:lnSpc>
                <a:spcPts val="3151"/>
              </a:lnSpc>
              <a:buFont typeface="Arial"/>
              <a:buChar char="•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Initial Models Tested:</a:t>
            </a:r>
          </a:p>
          <a:p>
            <a:pPr algn="l" marL="1275907" indent="-318977" lvl="3">
              <a:lnSpc>
                <a:spcPts val="3151"/>
              </a:lnSpc>
              <a:buFont typeface="Arial"/>
              <a:buChar char="￭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DenseNet121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EfficientNetB0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DeepLabV3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 U-Net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focusing on segmentation and compact networks.</a:t>
            </a:r>
          </a:p>
          <a:p>
            <a:pPr algn="l" marL="1275907" indent="-318977" lvl="3">
              <a:lnSpc>
                <a:spcPts val="3151"/>
              </a:lnSpc>
              <a:buFont typeface="Arial"/>
              <a:buChar char="￭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 autoencoder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trained on the dataset, but it showed convergence instability and insufficient detail for medical captioning.</a:t>
            </a:r>
          </a:p>
          <a:p>
            <a:pPr algn="l" marL="425302" indent="-212651" lvl="1">
              <a:lnSpc>
                <a:spcPts val="3151"/>
              </a:lnSpc>
              <a:buAutoNum type="arabicPeriod" startAt="1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Final ResNet50-Based Architecture:</a:t>
            </a:r>
          </a:p>
          <a:p>
            <a:pPr algn="l" marL="850605" indent="-283535" lvl="2">
              <a:lnSpc>
                <a:spcPts val="3151"/>
              </a:lnSpc>
              <a:buFont typeface="Arial"/>
              <a:buChar char="⚬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Higher Resolution Input (384×384):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Improved feature extraction for better classification and captioning.</a:t>
            </a:r>
          </a:p>
          <a:p>
            <a:pPr algn="l" marL="850605" indent="-283535" lvl="2">
              <a:lnSpc>
                <a:spcPts val="3151"/>
              </a:lnSpc>
              <a:buFont typeface="Arial"/>
              <a:buChar char="⚬"/>
            </a:pP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Latent Space (4096-dim):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Supports both classification and GPT-2 captioning, achieving unified and robust performance.</a:t>
            </a:r>
          </a:p>
          <a:p>
            <a:pPr algn="l" marL="425302" indent="-212651" lvl="1">
              <a:lnSpc>
                <a:spcPts val="3151"/>
              </a:lnSpc>
              <a:buFont typeface="Arial"/>
              <a:buChar char="•"/>
            </a:pP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results reported in the presentation are the result of the average of the </a:t>
            </a:r>
            <a:r>
              <a:rPr lang="en-US" b="true" sz="19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about ten experiments</a:t>
            </a:r>
            <a:r>
              <a:rPr lang="en-US" sz="19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carried out.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7632736" cy="10287000"/>
            <a:chOff x="0" y="0"/>
            <a:chExt cx="201026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026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10268">
                  <a:moveTo>
                    <a:pt x="0" y="0"/>
                  </a:moveTo>
                  <a:lnTo>
                    <a:pt x="2010268" y="0"/>
                  </a:lnTo>
                  <a:lnTo>
                    <a:pt x="201026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026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7742" y="2153507"/>
            <a:ext cx="7297253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77"/>
              </a:lnSpc>
              <a:spcBef>
                <a:spcPct val="0"/>
              </a:spcBef>
            </a:pPr>
            <a:r>
              <a:rPr lang="en-US" b="true" sz="839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Experiments and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742" y="6524284"/>
            <a:ext cx="7297253" cy="136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8"/>
              </a:lnSpc>
            </a:pPr>
            <a:r>
              <a:rPr lang="en-US" sz="2598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During the development phase, various experimental configurations were tested to optimize the performance of our models:</a:t>
            </a:r>
          </a:p>
        </p:txBody>
      </p:sp>
      <p:sp>
        <p:nvSpPr>
          <p:cNvPr name="AutoShape 8" id="8"/>
          <p:cNvSpPr/>
          <p:nvPr/>
        </p:nvSpPr>
        <p:spPr>
          <a:xfrm>
            <a:off x="167742" y="6281995"/>
            <a:ext cx="7297253" cy="0"/>
          </a:xfrm>
          <a:prstGeom prst="line">
            <a:avLst/>
          </a:prstGeom>
          <a:ln cap="flat" w="19050">
            <a:solidFill>
              <a:srgbClr val="4B4B4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52258"/>
            <a:chOff x="0" y="0"/>
            <a:chExt cx="4816593" cy="9882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88249"/>
            </a:xfrm>
            <a:custGeom>
              <a:avLst/>
              <a:gdLst/>
              <a:ahLst/>
              <a:cxnLst/>
              <a:rect r="r" b="b" t="t" l="l"/>
              <a:pathLst>
                <a:path h="988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88249"/>
                  </a:lnTo>
                  <a:lnTo>
                    <a:pt x="0" y="988249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026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23914" y="7906072"/>
            <a:ext cx="14440172" cy="2261988"/>
          </a:xfrm>
          <a:custGeom>
            <a:avLst/>
            <a:gdLst/>
            <a:ahLst/>
            <a:cxnLst/>
            <a:rect r="r" b="b" t="t" l="l"/>
            <a:pathLst>
              <a:path h="2261988" w="14440172">
                <a:moveTo>
                  <a:pt x="0" y="0"/>
                </a:moveTo>
                <a:lnTo>
                  <a:pt x="14440172" y="0"/>
                </a:lnTo>
                <a:lnTo>
                  <a:pt x="14440172" y="2261987"/>
                </a:lnTo>
                <a:lnTo>
                  <a:pt x="0" y="2261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" t="0" r="-186" b="-51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23914" y="4281848"/>
            <a:ext cx="14440172" cy="2852041"/>
          </a:xfrm>
          <a:custGeom>
            <a:avLst/>
            <a:gdLst/>
            <a:ahLst/>
            <a:cxnLst/>
            <a:rect r="r" b="b" t="t" l="l"/>
            <a:pathLst>
              <a:path h="2852041" w="14440172">
                <a:moveTo>
                  <a:pt x="0" y="0"/>
                </a:moveTo>
                <a:lnTo>
                  <a:pt x="14440172" y="0"/>
                </a:lnTo>
                <a:lnTo>
                  <a:pt x="14440172" y="2852041"/>
                </a:lnTo>
                <a:lnTo>
                  <a:pt x="0" y="2852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44" r="0" b="-22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60187" y="35097"/>
            <a:ext cx="77676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Architectures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3914" y="818912"/>
            <a:ext cx="14440172" cy="285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8881" indent="-144440" lvl="1">
              <a:lnSpc>
                <a:spcPts val="1739"/>
              </a:lnSpc>
              <a:buAutoNum type="arabicPeriod" startAt="1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Classification (GPT-2):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 Extraction: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Two ResNet-50 encoders process frontal and lateral X-rays, producing 2048-dimensional vectors concatenated into a 4096-dimensional representation.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Classifier: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feed-forward network predicts two logits (Sick/Not Sick).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Captioning with GPT-2: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The 4096 features are projected and passed to GPT-2 for caption generation. Training combines classification loss (binary cross-entropy/Focal Loss) and a custom caption loss.</a:t>
            </a:r>
          </a:p>
          <a:p>
            <a:pPr algn="l" marL="302261" indent="-151130" lvl="1">
              <a:lnSpc>
                <a:spcPts val="1820"/>
              </a:lnSpc>
              <a:buAutoNum type="arabicPeriod" startAt="1"/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Classification (GPT-2):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Same Base Architecture: 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ResNet-50 encoders and feature concatenation are identical.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Classifier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The classifier outputs four logits for body-system categories (No Problem, Pulmonary, Cardiovascular, Musculoskeletal).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Captioning with GPT-2: 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Same pipeline as binary classification, with a four-class loss replacing binary cross-entropy.</a:t>
            </a:r>
          </a:p>
          <a:p>
            <a:pPr algn="l" marL="288881" indent="-144440" lvl="1">
              <a:lnSpc>
                <a:spcPts val="1739"/>
              </a:lnSpc>
              <a:buAutoNum type="arabicPeriod" startAt="1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with Custom Transformer: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 Extraction: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Identical ResNet-50 encoders and multi-class classifier as the GPT-2 model.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 Transformer Encoder: 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Image features (4096-dim) are projected into "image tokens" and combined with textual embeddings for processing in a TransformerEncoder.</a:t>
            </a:r>
          </a:p>
          <a:p>
            <a:pPr algn="l" marL="577761" indent="-192587" lvl="2">
              <a:lnSpc>
                <a:spcPts val="1739"/>
              </a:lnSpc>
              <a:buFont typeface="Arial"/>
              <a:buChar char="⚬"/>
            </a:pPr>
            <a:r>
              <a:rPr lang="en-US" b="true" sz="13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 Transformer Decoder:</a:t>
            </a:r>
            <a:r>
              <a:rPr lang="en-US" sz="13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Generates captions using masked self-attention and cross-attention, trained from scratch with caption loss and classification loss.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96422" y="3799883"/>
            <a:ext cx="529515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 of Models using GPT2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13400" y="7424107"/>
            <a:ext cx="74612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 of Model using Custom Transformer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923914" y="7298048"/>
            <a:ext cx="14440172" cy="0"/>
          </a:xfrm>
          <a:prstGeom prst="line">
            <a:avLst/>
          </a:prstGeom>
          <a:ln cap="flat" w="19050">
            <a:solidFill>
              <a:srgbClr val="1F1F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46460" y="6003851"/>
          <a:ext cx="5776112" cy="4206084"/>
        </p:xfrm>
        <a:graphic>
          <a:graphicData uri="http://schemas.openxmlformats.org/drawingml/2006/table">
            <a:tbl>
              <a:tblPr/>
              <a:tblGrid>
                <a:gridCol w="2994893"/>
                <a:gridCol w="1335634"/>
                <a:gridCol w="1445585"/>
              </a:tblGrid>
              <a:tr h="1011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BLEU-4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ROUGE-L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7996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State of the 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78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Binary-GPT2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78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MultiClass-GPT2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95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MultiClass-Cust.Trans.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889364" y="6003851"/>
          <a:ext cx="9211754" cy="4207937"/>
        </p:xfrm>
        <a:graphic>
          <a:graphicData uri="http://schemas.openxmlformats.org/drawingml/2006/table">
            <a:tbl>
              <a:tblPr/>
              <a:tblGrid>
                <a:gridCol w="2992697"/>
                <a:gridCol w="1267741"/>
                <a:gridCol w="1217887"/>
                <a:gridCol w="1217887"/>
                <a:gridCol w="1217887"/>
                <a:gridCol w="1297654"/>
              </a:tblGrid>
              <a:tr h="11149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Acc. Class 0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Acc. Class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Acc. Class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Acc. Class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Acc. Overall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9880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Binary-GPT2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93.0%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95.4%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MultiClass-GPT2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87.0%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96.1%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86.3%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91.4%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90.9%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83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MultiClass-Cust.Trans.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78.9%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96.5%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95.6%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607022" y="-95250"/>
            <a:ext cx="1307395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Analysis and Model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6460" y="907740"/>
            <a:ext cx="15854658" cy="48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Overview:</a:t>
            </a:r>
          </a:p>
          <a:p>
            <a:pPr algn="l" marL="453390" indent="-226695" lvl="1">
              <a:lnSpc>
                <a:spcPts val="2940"/>
              </a:lnSpc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(Sick/Not Sick):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 test accuracy (95% overall).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GP</a:t>
            </a: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T-2 generates concise captions describing the presence of pathologies.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(Body Zones) + GPT-2: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Focuses on anatomical problem localization.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 overall accuracy (91%) with fluent radiological text.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Multi-Class (Body Zones) + Custom Transformer: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Better </a:t>
            </a: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classification accuracy (95% overall) but slightly less fluent captioning due to training from scratch.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unified pipeline supports flexible switching between binary and multi-class labeling with either GPT-2 or a custom Transformer for captioning. It achieves consistent accuracy and text generation results, balancing performance and versatility without extensive code modifications.</a:t>
            </a:r>
          </a:p>
        </p:txBody>
      </p:sp>
      <p:sp>
        <p:nvSpPr>
          <p:cNvPr name="AutoShape 6" id="6"/>
          <p:cNvSpPr/>
          <p:nvPr/>
        </p:nvSpPr>
        <p:spPr>
          <a:xfrm>
            <a:off x="1246460" y="910273"/>
            <a:ext cx="15854658" cy="0"/>
          </a:xfrm>
          <a:prstGeom prst="line">
            <a:avLst/>
          </a:prstGeom>
          <a:ln cap="flat" w="38100">
            <a:solidFill>
              <a:srgbClr val="1F1F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246460" y="5835975"/>
            <a:ext cx="15854658" cy="0"/>
          </a:xfrm>
          <a:prstGeom prst="line">
            <a:avLst/>
          </a:prstGeom>
          <a:ln cap="flat" w="38100">
            <a:solidFill>
              <a:srgbClr val="1F1F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DAGcd5__-RA</dc:identifier>
  <dcterms:modified xsi:type="dcterms:W3CDTF">2011-08-01T06:04:30Z</dcterms:modified>
  <cp:revision>1</cp:revision>
  <dc:title>Deep Learning A.A.</dc:title>
</cp:coreProperties>
</file>